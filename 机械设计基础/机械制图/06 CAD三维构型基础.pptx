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80" r:id="rId3"/>
    <p:sldId id="502" r:id="rId4"/>
    <p:sldId id="499" r:id="rId5"/>
    <p:sldId id="500" r:id="rId6"/>
    <p:sldId id="483" r:id="rId7"/>
    <p:sldId id="484" r:id="rId9"/>
    <p:sldId id="485" r:id="rId10"/>
    <p:sldId id="486" r:id="rId11"/>
    <p:sldId id="489" r:id="rId12"/>
    <p:sldId id="493" r:id="rId13"/>
    <p:sldId id="492" r:id="rId14"/>
    <p:sldId id="491" r:id="rId15"/>
    <p:sldId id="495" r:id="rId16"/>
    <p:sldId id="501" r:id="rId17"/>
    <p:sldId id="496" r:id="rId18"/>
    <p:sldId id="498" r:id="rId19"/>
    <p:sldId id="497" r:id="rId20"/>
  </p:sldIdLst>
  <p:sldSz cx="12192000" cy="685800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6" autoAdjust="0"/>
    <p:restoredTop sz="94746" autoAdjust="0"/>
  </p:normalViewPr>
  <p:slideViewPr>
    <p:cSldViewPr showGuides="1">
      <p:cViewPr varScale="1">
        <p:scale>
          <a:sx n="67" d="100"/>
          <a:sy n="67" d="100"/>
        </p:scale>
        <p:origin x="86" y="379"/>
      </p:cViewPr>
      <p:guideLst>
        <p:guide orient="horz" pos="2209"/>
        <p:guide pos="3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946"/>
        <p:guide pos="21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63A54E8-3F9B-4211-9A70-F564B1640666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A2109B4-2BE4-4871-9042-B81A18466F7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fld id="{654AA141-C0C4-4767-8EE1-A186C51071FE}" type="slidenum">
              <a:rPr lang="zh-CN" altLang="en-US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109B4-2BE4-4871-9042-B81A18466F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3FD1507D-F05C-4DEA-9E45-33E9DBDD9C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C5A6EA6-81F2-487E-AD7F-ED67FF17666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DA257143-0046-475F-9CAF-AD9FA859F2CA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386242B8-2017-4805-A9FC-F98CA2A048D4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DFD0B22-47AB-4DC5-87DF-41BA992FFBAA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B4526A8-D9B0-4052-8F55-964672431F45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22F3ED67-9595-4A86-AE8A-5BF6508946ED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F28BAF5-A705-49F5-889E-E58E5BA97DEA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E619D9BF-0212-40D7-97F7-08171AD9D0E8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2D8FF276-60FA-4FAC-994A-190D0E1801C2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B8FEE21-2BF5-480F-8CC8-E30A3C5B66A4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2A8ED73-1E5B-4F5E-BF15-C66ADF17E5A1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4D46294-4575-4BF1-B6B0-252D9B5A44A2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047270C-765B-49CD-B045-78762A971DC7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8A85570-81DC-4364-A806-4AD263077782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8AFF789-A572-44A4-807A-8EEDD0C3E80F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265BE3E4-8A8E-42EC-88DC-F379ED4A561A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96890F3-CB43-4CE4-B37F-37275AC5F3C3}" type="slidenum">
              <a:rPr lang="en-US" altLang="zh-CN"/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2.wav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jpe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95500" y="1643063"/>
            <a:ext cx="4267200" cy="481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本讲重点内容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987488" y="2276872"/>
            <a:ext cx="6448772" cy="977265"/>
          </a:xfrm>
          <a:prstGeom prst="rect">
            <a:avLst/>
          </a:prstGeom>
          <a:noFill/>
          <a:ln w="76200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anose="05000000000000000000" charset="0"/>
              <a:buChar char="Ø"/>
              <a:tabLst>
                <a:tab pos="2636520" algn="ctr"/>
                <a:tab pos="5273675" algn="r"/>
              </a:tabLst>
              <a:defRPr/>
            </a:pPr>
            <a:r>
              <a:rPr lang="zh-CN" altLang="zh-CN" sz="2400" dirty="0">
                <a:sym typeface="+mn-ea"/>
              </a:rPr>
              <a:t>利用</a:t>
            </a:r>
            <a:r>
              <a:rPr lang="en-US" altLang="zh-CN" sz="2400" dirty="0">
                <a:sym typeface="+mn-ea"/>
              </a:rPr>
              <a:t>CAD</a:t>
            </a:r>
            <a:r>
              <a:rPr lang="zh-CN" altLang="zh-CN" sz="2400" dirty="0">
                <a:sym typeface="+mn-ea"/>
              </a:rPr>
              <a:t>软件构建三维实体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 eaLnBrk="0" hangingPunct="0">
              <a:lnSpc>
                <a:spcPct val="120000"/>
              </a:lnSpc>
              <a:buFont typeface="Wingdings" panose="05000000000000000000" charset="0"/>
              <a:buChar char="Ø"/>
              <a:tabLst>
                <a:tab pos="2636520" algn="ctr"/>
                <a:tab pos="5273675" algn="r"/>
              </a:tabLst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几何体的投影表达及其表面取点的方法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2089854" y="3348916"/>
            <a:ext cx="3409950" cy="728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学习目标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2130999" y="3816836"/>
            <a:ext cx="8239125" cy="2306955"/>
          </a:xfrm>
          <a:prstGeom prst="rect">
            <a:avLst/>
          </a:prstGeom>
          <a:noFill/>
          <a:ln w="762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★ </a:t>
            </a:r>
            <a:r>
              <a:rPr lang="zh-CN" altLang="en-US" sz="2400" dirty="0">
                <a:latin typeface="+mn-ea"/>
                <a:ea typeface="+mn-ea"/>
              </a:rPr>
              <a:t>了解几何体的</a:t>
            </a:r>
            <a:r>
              <a:rPr lang="zh-CN" altLang="en-US" sz="2400" dirty="0">
                <a:latin typeface="+mn-ea"/>
                <a:ea typeface="+mn-ea"/>
              </a:rPr>
              <a:t>构型方法</a:t>
            </a:r>
            <a:endParaRPr lang="zh-CN" altLang="en-US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★</a:t>
            </a:r>
            <a:r>
              <a:rPr lang="en-US" altLang="zh-CN" sz="2400" dirty="0">
                <a:latin typeface="+mn-ea"/>
                <a:ea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  <a:sym typeface="+mn-ea"/>
              </a:rPr>
              <a:t>学使用</a:t>
            </a:r>
            <a:r>
              <a:rPr lang="en-US" altLang="zh-CN" sz="2400" dirty="0">
                <a:latin typeface="+mn-ea"/>
                <a:ea typeface="+mn-ea"/>
                <a:sym typeface="+mn-ea"/>
              </a:rPr>
              <a:t>CAD</a:t>
            </a:r>
            <a:r>
              <a:rPr lang="zh-CN" altLang="en-US" sz="2400" dirty="0">
                <a:latin typeface="+mn-ea"/>
                <a:ea typeface="+mn-ea"/>
                <a:sym typeface="+mn-ea"/>
              </a:rPr>
              <a:t>软件构建三维实体</a:t>
            </a:r>
            <a:endParaRPr lang="zh-CN" altLang="en-US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★ </a:t>
            </a:r>
            <a:r>
              <a:rPr lang="zh-CN" altLang="en-US" sz="2400" dirty="0">
                <a:latin typeface="+mn-ea"/>
                <a:ea typeface="+mn-ea"/>
              </a:rPr>
              <a:t>掌握</a:t>
            </a:r>
            <a:r>
              <a:rPr lang="zh-CN" altLang="en-US" sz="2400" dirty="0">
                <a:latin typeface="+mn-ea"/>
                <a:ea typeface="+mn-ea"/>
              </a:rPr>
              <a:t>几何体的</a:t>
            </a:r>
            <a:r>
              <a:rPr lang="zh-CN" altLang="en-US" sz="2400" dirty="0">
                <a:latin typeface="+mn-ea"/>
                <a:ea typeface="+mn-ea"/>
              </a:rPr>
              <a:t>投影</a:t>
            </a:r>
            <a:endParaRPr lang="zh-CN" altLang="en-US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★ 学会利用投影关系，确定立体表面上点的投影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构形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95500" y="1643063"/>
            <a:ext cx="4267200" cy="481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本讲重点内容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987488" y="2276872"/>
            <a:ext cx="6448772" cy="977265"/>
          </a:xfrm>
          <a:prstGeom prst="rect">
            <a:avLst/>
          </a:prstGeom>
          <a:noFill/>
          <a:ln w="76200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anose="05000000000000000000" charset="0"/>
              <a:buChar char="Ø"/>
              <a:tabLst>
                <a:tab pos="2636520" algn="ctr"/>
                <a:tab pos="5273675" algn="r"/>
              </a:tabLst>
              <a:defRPr/>
            </a:pPr>
            <a:r>
              <a:rPr lang="zh-CN" altLang="zh-CN" sz="2400" b="1" dirty="0">
                <a:solidFill>
                  <a:srgbClr val="C00000"/>
                </a:solidFill>
                <a:sym typeface="+mn-ea"/>
              </a:rPr>
              <a:t>利用</a:t>
            </a:r>
            <a:r>
              <a:rPr lang="en-US" altLang="zh-CN" sz="2400" b="1" dirty="0">
                <a:solidFill>
                  <a:srgbClr val="C00000"/>
                </a:solidFill>
                <a:sym typeface="+mn-ea"/>
              </a:rPr>
              <a:t>CAD</a:t>
            </a:r>
            <a:r>
              <a:rPr lang="zh-CN" altLang="zh-CN" sz="2400" b="1" dirty="0">
                <a:solidFill>
                  <a:srgbClr val="C00000"/>
                </a:solidFill>
                <a:sym typeface="+mn-ea"/>
              </a:rPr>
              <a:t>软件构建三维实体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342900" indent="-342900" eaLnBrk="0" hangingPunct="0">
              <a:lnSpc>
                <a:spcPct val="120000"/>
              </a:lnSpc>
              <a:buFont typeface="Wingdings" panose="05000000000000000000" charset="0"/>
              <a:buChar char="Ø"/>
              <a:tabLst>
                <a:tab pos="2636520" algn="ctr"/>
                <a:tab pos="5273675" algn="r"/>
              </a:tabLst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几何体的投影表达及其表面取点的方法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2089854" y="3348916"/>
            <a:ext cx="3409950" cy="728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学习目标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anose="02010600030101010101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2130999" y="3816836"/>
            <a:ext cx="8239125" cy="2306955"/>
          </a:xfrm>
          <a:prstGeom prst="rect">
            <a:avLst/>
          </a:prstGeom>
          <a:noFill/>
          <a:ln w="762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★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了解几何体的构型方法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★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学使用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CAD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软件构建三维实体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★ </a:t>
            </a:r>
            <a:r>
              <a:rPr lang="zh-CN" altLang="en-US" sz="2400" dirty="0">
                <a:latin typeface="+mn-ea"/>
                <a:ea typeface="+mn-ea"/>
              </a:rPr>
              <a:t>掌握</a:t>
            </a:r>
            <a:r>
              <a:rPr lang="zh-CN" altLang="en-US" sz="2400" dirty="0">
                <a:latin typeface="+mn-ea"/>
                <a:ea typeface="+mn-ea"/>
              </a:rPr>
              <a:t>几何体的</a:t>
            </a:r>
            <a:r>
              <a:rPr lang="zh-CN" altLang="en-US" sz="2400" dirty="0">
                <a:latin typeface="+mn-ea"/>
                <a:ea typeface="+mn-ea"/>
              </a:rPr>
              <a:t>投影</a:t>
            </a:r>
            <a:endParaRPr lang="zh-CN" altLang="en-US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★ 学会利用投影关系，确定立体表面上点的投影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构形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93942" y="4652519"/>
            <a:ext cx="9793088" cy="92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宋体" panose="02010600030101010101" pitchFamily="2" charset="-122"/>
              </a:rPr>
              <a:t>☆</a:t>
            </a:r>
            <a:r>
              <a:rPr lang="zh-CN" altLang="zh-CN" sz="2400" b="1" dirty="0">
                <a:solidFill>
                  <a:srgbClr val="FF0000"/>
                </a:solidFill>
                <a:latin typeface="+mn-ea"/>
                <a:ea typeface="+mn-ea"/>
                <a:cs typeface="宋体" panose="02010600030101010101" pitchFamily="2" charset="-122"/>
              </a:rPr>
              <a:t>几何模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宋体" panose="02010600030101010101" pitchFamily="2" charset="-122"/>
              </a:rPr>
              <a:t>形：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ea typeface="+mn-ea"/>
                <a:cs typeface="宋体" panose="02010600030101010101" pitchFamily="2" charset="-122"/>
              </a:rPr>
              <a:t>  </a:t>
            </a:r>
            <a:r>
              <a:rPr lang="zh-CN" altLang="zh-CN" sz="2400" b="1" dirty="0">
                <a:latin typeface="+mn-ea"/>
                <a:ea typeface="+mn-ea"/>
                <a:cs typeface="宋体" panose="02010600030101010101" pitchFamily="2" charset="-122"/>
              </a:rPr>
              <a:t>用来描述产品的形状、尺寸大小、位置与结构关系等几何信息的模</a:t>
            </a:r>
            <a:r>
              <a:rPr lang="zh-CN" altLang="en-US" sz="2400" b="1" dirty="0">
                <a:latin typeface="+mn-ea"/>
                <a:ea typeface="+mn-ea"/>
                <a:cs typeface="宋体" panose="02010600030101010101" pitchFamily="2" charset="-122"/>
              </a:rPr>
              <a:t>形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93895" y="1495422"/>
            <a:ext cx="2143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☆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几何体概述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43472" y="2271061"/>
            <a:ext cx="11221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按其表面性质不同</a:t>
            </a:r>
            <a:endParaRPr lang="zh-CN" altLang="zh-CN" sz="2400" b="1" kern="1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63651" y="2182882"/>
            <a:ext cx="58006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平面基本几何体</a:t>
            </a:r>
            <a:r>
              <a:rPr lang="zh-CN" altLang="en-US" sz="2400" kern="100" dirty="0">
                <a:latin typeface="Times New Roman" panose="02020603050405020304" pitchFamily="18" charset="0"/>
              </a:rPr>
              <a:t>（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平面几何体</a:t>
            </a:r>
            <a:r>
              <a:rPr lang="zh-CN" altLang="en-US" sz="2400" kern="100" dirty="0">
                <a:latin typeface="Times New Roman" panose="02020603050405020304" pitchFamily="18" charset="0"/>
              </a:rPr>
              <a:t>）</a:t>
            </a:r>
            <a:endParaRPr lang="en-US" altLang="zh-CN" sz="2400" kern="100" dirty="0"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</a:rPr>
              <a:t>                            </a:t>
            </a:r>
            <a:r>
              <a:rPr lang="zh-CN" altLang="zh-CN" sz="2400" kern="100" dirty="0">
                <a:latin typeface="Times New Roman" panose="02020603050405020304" pitchFamily="18" charset="0"/>
              </a:rPr>
              <a:t>如棱柱体、棱锥体等</a:t>
            </a:r>
            <a:endParaRPr lang="zh-CN" altLang="zh-CN" sz="2400" kern="100" dirty="0">
              <a:latin typeface="Times New Roman" panose="02020603050405020304" pitchFamily="18" charset="0"/>
            </a:endParaRPr>
          </a:p>
        </p:txBody>
      </p:sp>
      <p:sp>
        <p:nvSpPr>
          <p:cNvPr id="9" name="AutoShape 20"/>
          <p:cNvSpPr/>
          <p:nvPr/>
        </p:nvSpPr>
        <p:spPr bwMode="auto">
          <a:xfrm>
            <a:off x="2639616" y="2314636"/>
            <a:ext cx="266470" cy="1200330"/>
          </a:xfrm>
          <a:prstGeom prst="leftBrace">
            <a:avLst>
              <a:gd name="adj1" fmla="val 108333"/>
              <a:gd name="adj2" fmla="val 50000"/>
            </a:avLst>
          </a:prstGeom>
          <a:noFill/>
          <a:ln w="349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933699" y="3144544"/>
            <a:ext cx="53501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曲面基本几何体</a:t>
            </a:r>
            <a:r>
              <a:rPr lang="zh-CN" altLang="en-US" sz="24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sz="2400" kern="100" dirty="0">
                <a:cs typeface="Times New Roman" panose="02020603050405020304" pitchFamily="18" charset="0"/>
              </a:rPr>
              <a:t>曲面几何体</a:t>
            </a:r>
            <a:r>
              <a:rPr lang="zh-CN" altLang="en-US" sz="24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kern="100" dirty="0"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cs typeface="Times New Roman" panose="02020603050405020304" pitchFamily="18" charset="0"/>
              </a:rPr>
              <a:t>                   </a:t>
            </a:r>
            <a:r>
              <a:rPr lang="zh-CN" altLang="zh-CN" sz="2400" kern="100" dirty="0">
                <a:cs typeface="Times New Roman" panose="02020603050405020304" pitchFamily="18" charset="0"/>
              </a:rPr>
              <a:t>如圆柱体、圆锥体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、圆球</a:t>
            </a:r>
            <a:endParaRPr lang="zh-CN" altLang="en-US" sz="2400" kern="100" dirty="0">
              <a:cs typeface="Times New Roman" panose="02020603050405020304" pitchFamily="18" charset="0"/>
            </a:endParaRPr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8144787" y="2065521"/>
            <a:ext cx="598778" cy="805643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007000"/>
              </a:gs>
              <a:gs pos="50000">
                <a:srgbClr val="009900"/>
              </a:gs>
              <a:gs pos="100000">
                <a:srgbClr val="007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231794" y="3174735"/>
            <a:ext cx="641548" cy="821526"/>
          </a:xfrm>
          <a:prstGeom prst="can">
            <a:avLst>
              <a:gd name="adj" fmla="val 32326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13" name="Group 15"/>
          <p:cNvGrpSpPr/>
          <p:nvPr/>
        </p:nvGrpSpPr>
        <p:grpSpPr bwMode="auto">
          <a:xfrm>
            <a:off x="9420219" y="1916832"/>
            <a:ext cx="855398" cy="931828"/>
            <a:chOff x="1491" y="1995"/>
            <a:chExt cx="960" cy="1056"/>
          </a:xfrm>
        </p:grpSpPr>
        <p:sp>
          <p:nvSpPr>
            <p:cNvPr id="14" name="Freeform 7"/>
            <p:cNvSpPr/>
            <p:nvPr/>
          </p:nvSpPr>
          <p:spPr bwMode="auto">
            <a:xfrm>
              <a:off x="1491" y="1995"/>
              <a:ext cx="624" cy="1056"/>
            </a:xfrm>
            <a:custGeom>
              <a:avLst/>
              <a:gdLst>
                <a:gd name="T0" fmla="*/ 480 w 624"/>
                <a:gd name="T1" fmla="*/ 0 h 960"/>
                <a:gd name="T2" fmla="*/ 0 w 624"/>
                <a:gd name="T3" fmla="*/ 27794 h 960"/>
                <a:gd name="T4" fmla="*/ 624 w 624"/>
                <a:gd name="T5" fmla="*/ 32680 h 960"/>
                <a:gd name="T6" fmla="*/ 480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480" y="0"/>
                  </a:moveTo>
                  <a:lnTo>
                    <a:pt x="0" y="816"/>
                  </a:lnTo>
                  <a:lnTo>
                    <a:pt x="624" y="960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50000">
                  <a:srgbClr val="339933"/>
                </a:gs>
                <a:gs pos="100000">
                  <a:srgbClr val="297A2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1971" y="1995"/>
              <a:ext cx="480" cy="1056"/>
            </a:xfrm>
            <a:custGeom>
              <a:avLst/>
              <a:gdLst>
                <a:gd name="T0" fmla="*/ 0 w 480"/>
                <a:gd name="T1" fmla="*/ 0 h 960"/>
                <a:gd name="T2" fmla="*/ 480 w 480"/>
                <a:gd name="T3" fmla="*/ 24479 h 960"/>
                <a:gd name="T4" fmla="*/ 144 w 480"/>
                <a:gd name="T5" fmla="*/ 32680 h 960"/>
                <a:gd name="T6" fmla="*/ 0 w 480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960"/>
                <a:gd name="T14" fmla="*/ 480 w 480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960">
                  <a:moveTo>
                    <a:pt x="0" y="0"/>
                  </a:moveTo>
                  <a:lnTo>
                    <a:pt x="480" y="720"/>
                  </a:lnTo>
                  <a:lnTo>
                    <a:pt x="144" y="9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97A29"/>
                </a:gs>
                <a:gs pos="50000">
                  <a:srgbClr val="339933"/>
                </a:gs>
                <a:gs pos="100000">
                  <a:srgbClr val="297A2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" name="Oval 9"/>
          <p:cNvSpPr>
            <a:spLocks noChangeArrowheads="1"/>
          </p:cNvSpPr>
          <p:nvPr/>
        </p:nvSpPr>
        <p:spPr bwMode="auto">
          <a:xfrm>
            <a:off x="10275617" y="3229277"/>
            <a:ext cx="727088" cy="635337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17" name="Picture 1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006" y="2970031"/>
            <a:ext cx="949848" cy="1103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7" grpId="0"/>
      <p:bldP spid="8" grpId="0"/>
      <p:bldP spid="9" grpId="0" animBg="1"/>
      <p:bldP spid="10" grpId="0"/>
      <p:bldP spid="11" grpId="0" animBg="1" autoUpdateAnimBg="0"/>
      <p:bldP spid="12" grpId="0" animBg="1" autoUpdateAnimBg="0"/>
      <p:bldP spid="1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93895" y="1495422"/>
            <a:ext cx="39573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</a:rPr>
              <a:t>☆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常见的几何实体造型方法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24367" y="3426761"/>
            <a:ext cx="1122108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几何实体造型方法</a:t>
            </a:r>
            <a:endParaRPr lang="zh-CN" altLang="en-US" sz="2400" b="1" kern="1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72685" y="2685415"/>
            <a:ext cx="21304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边界表示法</a:t>
            </a:r>
            <a:r>
              <a:rPr lang="en-US" altLang="zh-CN" sz="2400" kern="100" dirty="0">
                <a:latin typeface="Times New Roman" panose="02020603050405020304" pitchFamily="18" charset="0"/>
              </a:rPr>
              <a:t>                         </a:t>
            </a:r>
            <a:endParaRPr lang="zh-CN" altLang="zh-CN" sz="2400" kern="100" dirty="0">
              <a:latin typeface="Times New Roman" panose="02020603050405020304" pitchFamily="18" charset="0"/>
            </a:endParaRPr>
          </a:p>
        </p:txBody>
      </p:sp>
      <p:sp>
        <p:nvSpPr>
          <p:cNvPr id="20" name="AutoShape 20"/>
          <p:cNvSpPr/>
          <p:nvPr/>
        </p:nvSpPr>
        <p:spPr bwMode="auto">
          <a:xfrm>
            <a:off x="4648835" y="2816860"/>
            <a:ext cx="323850" cy="2172335"/>
          </a:xfrm>
          <a:prstGeom prst="leftBrace">
            <a:avLst>
              <a:gd name="adj1" fmla="val 108333"/>
              <a:gd name="adj2" fmla="val 50000"/>
            </a:avLst>
          </a:prstGeom>
          <a:noFill/>
          <a:ln w="349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972685" y="3646170"/>
            <a:ext cx="25628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构造实体几何</a:t>
            </a: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法</a:t>
            </a:r>
            <a:endParaRPr lang="zh-CN" altLang="zh-CN" sz="2400" b="1" kern="1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008880" y="4650105"/>
            <a:ext cx="12801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扫描</a:t>
            </a: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法</a:t>
            </a:r>
            <a:endParaRPr lang="zh-CN" altLang="zh-CN" sz="2400" b="1" kern="1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" name="AutoShape 20"/>
          <p:cNvSpPr/>
          <p:nvPr/>
        </p:nvSpPr>
        <p:spPr bwMode="auto">
          <a:xfrm>
            <a:off x="6161405" y="4361815"/>
            <a:ext cx="251460" cy="1071880"/>
          </a:xfrm>
          <a:prstGeom prst="leftBrace">
            <a:avLst>
              <a:gd name="adj1" fmla="val 108333"/>
              <a:gd name="adj2" fmla="val 50000"/>
            </a:avLst>
          </a:prstGeom>
          <a:noFill/>
          <a:ln w="34925">
            <a:solidFill>
              <a:srgbClr val="00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521450" y="4147185"/>
            <a:ext cx="189039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旋转扫描</a:t>
            </a: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法</a:t>
            </a:r>
            <a:endParaRPr lang="zh-CN" altLang="zh-CN" sz="2400" b="1" kern="1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21450" y="5146675"/>
            <a:ext cx="195389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平移扫描</a:t>
            </a:r>
            <a:r>
              <a:rPr lang="zh-CN" altLang="zh-CN" sz="2400" b="1" kern="100" dirty="0">
                <a:latin typeface="黑体" panose="02010609060101010101" pitchFamily="2" charset="-122"/>
                <a:ea typeface="黑体" panose="02010609060101010101" pitchFamily="2" charset="-122"/>
              </a:rPr>
              <a:t>法</a:t>
            </a:r>
            <a:endParaRPr lang="zh-CN" altLang="zh-CN" sz="2400" b="1" kern="1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19" grpId="0"/>
      <p:bldP spid="20" grpId="0" bldLvl="0" animBg="1"/>
      <p:bldP spid="21" grpId="0"/>
      <p:bldP spid="22" grpId="0"/>
      <p:bldP spid="23" grpId="0" bldLvl="0" animBg="1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5-1"/>
          <p:cNvPicPr>
            <a:picLocks noChangeAspect="1" noChangeArrowheads="1"/>
          </p:cNvPicPr>
          <p:nvPr/>
        </p:nvPicPr>
        <p:blipFill>
          <a:blip r:embed="rId1">
            <a:lum bright="10000"/>
          </a:blip>
          <a:srcRect/>
          <a:stretch>
            <a:fillRect/>
          </a:stretch>
        </p:blipFill>
        <p:spPr bwMode="auto">
          <a:xfrm>
            <a:off x="6350000" y="1931989"/>
            <a:ext cx="387350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82267" y="2747356"/>
            <a:ext cx="3482595" cy="1200329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b="1" dirty="0"/>
              <a:t>      以物体的</a:t>
            </a:r>
            <a:r>
              <a:rPr lang="zh-CN" altLang="en-US" sz="2400" b="1" dirty="0">
                <a:solidFill>
                  <a:srgbClr val="FF0066"/>
                </a:solidFill>
              </a:rPr>
              <a:t>边界表面为基础</a:t>
            </a:r>
            <a:r>
              <a:rPr lang="zh-CN" altLang="en-US" sz="2400" b="1" dirty="0"/>
              <a:t>，定义和描述几何形体的方法。</a:t>
            </a:r>
            <a:endParaRPr lang="zh-CN" altLang="en-US" sz="2400" b="1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702314" y="1853466"/>
            <a:ext cx="253146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边界表示法 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03512" y="4712484"/>
            <a:ext cx="9023473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/>
              <a:t>       它用</a:t>
            </a:r>
            <a:r>
              <a:rPr lang="zh-CN" altLang="en-US" sz="2800" b="1" dirty="0">
                <a:solidFill>
                  <a:srgbClr val="FF0000"/>
                </a:solidFill>
              </a:rPr>
              <a:t>点、边、面、环</a:t>
            </a:r>
            <a:r>
              <a:rPr lang="zh-CN" altLang="en-US" sz="2800" b="1" dirty="0"/>
              <a:t>以及它们之间</a:t>
            </a:r>
            <a:r>
              <a:rPr lang="zh-CN" altLang="en-US" sz="2800" b="1" dirty="0">
                <a:solidFill>
                  <a:srgbClr val="FF0000"/>
                </a:solidFill>
              </a:rPr>
              <a:t>相互的邻接关系</a:t>
            </a:r>
            <a:r>
              <a:rPr lang="zh-CN" altLang="en-US" sz="2800" b="1" dirty="0"/>
              <a:t>定义三维实体，形体</a:t>
            </a:r>
            <a:r>
              <a:rPr lang="zh-CN" altLang="en-US" sz="2800" b="1" dirty="0">
                <a:solidFill>
                  <a:srgbClr val="FF0000"/>
                </a:solidFill>
              </a:rPr>
              <a:t>表面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边界线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交线</a:t>
            </a:r>
            <a:r>
              <a:rPr lang="zh-CN" altLang="en-US" sz="2800" b="1" dirty="0"/>
              <a:t>等都</a:t>
            </a:r>
            <a:r>
              <a:rPr lang="zh-CN" altLang="en-US" sz="2800" b="1" dirty="0">
                <a:solidFill>
                  <a:srgbClr val="FF0000"/>
                </a:solidFill>
              </a:rPr>
              <a:t>显式给出</a:t>
            </a:r>
            <a:r>
              <a:rPr lang="zh-CN" altLang="en-US" sz="2800" b="1" dirty="0"/>
              <a:t>。</a:t>
            </a:r>
            <a:endParaRPr lang="zh-CN" altLang="en-US" sz="2800" dirty="0"/>
          </a:p>
        </p:txBody>
      </p:sp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 rot="5400000">
            <a:off x="5932489" y="2862264"/>
            <a:ext cx="985837" cy="1587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10" name="直接连接符 9"/>
          <p:cNvCxnSpPr>
            <a:cxnSpLocks noChangeShapeType="1"/>
          </p:cNvCxnSpPr>
          <p:nvPr/>
        </p:nvCxnSpPr>
        <p:spPr bwMode="auto">
          <a:xfrm rot="10800000" flipV="1">
            <a:off x="6416676" y="3192463"/>
            <a:ext cx="288925" cy="169862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 rot="5400000">
            <a:off x="6203950" y="2711450"/>
            <a:ext cx="985838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rot="10800000" flipV="1">
            <a:off x="6429376" y="2214564"/>
            <a:ext cx="269875" cy="161925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grpSp>
        <p:nvGrpSpPr>
          <p:cNvPr id="2" name="组合 40"/>
          <p:cNvGrpSpPr/>
          <p:nvPr/>
        </p:nvGrpSpPr>
        <p:grpSpPr bwMode="auto">
          <a:xfrm>
            <a:off x="9186863" y="2462213"/>
            <a:ext cx="1003300" cy="1555750"/>
            <a:chOff x="7662941" y="2462462"/>
            <a:chExt cx="1003810" cy="1556086"/>
          </a:xfrm>
        </p:grpSpPr>
        <p:grpSp>
          <p:nvGrpSpPr>
            <p:cNvPr id="3" name="组合 39"/>
            <p:cNvGrpSpPr/>
            <p:nvPr/>
          </p:nvGrpSpPr>
          <p:grpSpPr bwMode="auto">
            <a:xfrm>
              <a:off x="7662941" y="2462462"/>
              <a:ext cx="1003810" cy="1556086"/>
              <a:chOff x="7662941" y="2462462"/>
              <a:chExt cx="1003810" cy="1556086"/>
            </a:xfrm>
          </p:grpSpPr>
          <p:cxnSp>
            <p:nvCxnSpPr>
              <p:cNvPr id="22560" name="直接连接符 21"/>
              <p:cNvCxnSpPr>
                <a:cxnSpLocks noChangeShapeType="1"/>
              </p:cNvCxnSpPr>
              <p:nvPr/>
            </p:nvCxnSpPr>
            <p:spPr bwMode="auto">
              <a:xfrm rot="10800000" flipV="1">
                <a:off x="7675607" y="2462462"/>
                <a:ext cx="285289" cy="163251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22561" name="直接连接符 24"/>
              <p:cNvCxnSpPr>
                <a:cxnSpLocks noChangeShapeType="1"/>
              </p:cNvCxnSpPr>
              <p:nvPr/>
            </p:nvCxnSpPr>
            <p:spPr bwMode="auto">
              <a:xfrm rot="10800000" flipV="1">
                <a:off x="8377373" y="3850695"/>
                <a:ext cx="285289" cy="163251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22562" name="直接连接符 25"/>
              <p:cNvCxnSpPr>
                <a:cxnSpLocks noChangeShapeType="1"/>
              </p:cNvCxnSpPr>
              <p:nvPr/>
            </p:nvCxnSpPr>
            <p:spPr bwMode="auto">
              <a:xfrm rot="10800000">
                <a:off x="7662941" y="3599191"/>
                <a:ext cx="723071" cy="419357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22563" name="直接连接符 26"/>
              <p:cNvCxnSpPr>
                <a:cxnSpLocks noChangeShapeType="1"/>
              </p:cNvCxnSpPr>
              <p:nvPr/>
            </p:nvCxnSpPr>
            <p:spPr bwMode="auto">
              <a:xfrm rot="16200000" flipV="1">
                <a:off x="7606088" y="2813506"/>
                <a:ext cx="1402183" cy="719142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22564" name="直接连接符 27"/>
              <p:cNvCxnSpPr>
                <a:cxnSpLocks noChangeShapeType="1"/>
              </p:cNvCxnSpPr>
              <p:nvPr/>
            </p:nvCxnSpPr>
            <p:spPr bwMode="auto">
              <a:xfrm rot="16200000" flipV="1">
                <a:off x="7338403" y="2962918"/>
                <a:ext cx="1388822" cy="714415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</a:ln>
            </p:spPr>
          </p:cxnSp>
        </p:grpSp>
        <p:cxnSp>
          <p:nvCxnSpPr>
            <p:cNvPr id="22559" name="直接连接符 34"/>
            <p:cNvCxnSpPr>
              <a:cxnSpLocks noChangeShapeType="1"/>
            </p:cNvCxnSpPr>
            <p:nvPr/>
          </p:nvCxnSpPr>
          <p:spPr bwMode="auto">
            <a:xfrm rot="5400000">
              <a:off x="7170234" y="3109573"/>
              <a:ext cx="1010493" cy="936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</a:ln>
          </p:spPr>
        </p:cxnSp>
      </p:grpSp>
      <p:cxnSp>
        <p:nvCxnSpPr>
          <p:cNvPr id="42" name="直接连接符 41"/>
          <p:cNvCxnSpPr>
            <a:cxnSpLocks noChangeShapeType="1"/>
          </p:cNvCxnSpPr>
          <p:nvPr/>
        </p:nvCxnSpPr>
        <p:spPr bwMode="auto">
          <a:xfrm rot="5400000">
            <a:off x="6443664" y="3300414"/>
            <a:ext cx="985837" cy="1587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43" name="直接连接符 42"/>
          <p:cNvCxnSpPr>
            <a:cxnSpLocks noChangeShapeType="1"/>
          </p:cNvCxnSpPr>
          <p:nvPr/>
        </p:nvCxnSpPr>
        <p:spPr bwMode="auto">
          <a:xfrm rot="16200000" flipH="1">
            <a:off x="6600825" y="3162300"/>
            <a:ext cx="1390650" cy="71755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44" name="直接连接符 43"/>
          <p:cNvCxnSpPr>
            <a:cxnSpLocks noChangeShapeType="1"/>
          </p:cNvCxnSpPr>
          <p:nvPr/>
        </p:nvCxnSpPr>
        <p:spPr bwMode="auto">
          <a:xfrm>
            <a:off x="6937376" y="3794125"/>
            <a:ext cx="708025" cy="4064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rot="5400000">
            <a:off x="7064375" y="2533650"/>
            <a:ext cx="985838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55" name="直接连接符 54"/>
          <p:cNvCxnSpPr>
            <a:cxnSpLocks noChangeShapeType="1"/>
          </p:cNvCxnSpPr>
          <p:nvPr/>
        </p:nvCxnSpPr>
        <p:spPr bwMode="auto">
          <a:xfrm rot="16200000" flipH="1">
            <a:off x="7226300" y="2371725"/>
            <a:ext cx="1384300" cy="7239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56" name="直接连接符 55"/>
          <p:cNvCxnSpPr>
            <a:cxnSpLocks noChangeShapeType="1"/>
          </p:cNvCxnSpPr>
          <p:nvPr/>
        </p:nvCxnSpPr>
        <p:spPr bwMode="auto">
          <a:xfrm rot="10800000">
            <a:off x="7543800" y="3016250"/>
            <a:ext cx="742950" cy="41275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61" name="直接连接符 60"/>
          <p:cNvCxnSpPr>
            <a:cxnSpLocks noChangeShapeType="1"/>
          </p:cNvCxnSpPr>
          <p:nvPr/>
        </p:nvCxnSpPr>
        <p:spPr bwMode="auto">
          <a:xfrm rot="16200000" flipV="1">
            <a:off x="7777163" y="3014663"/>
            <a:ext cx="1400175" cy="7112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65" name="直接连接符 64"/>
          <p:cNvCxnSpPr>
            <a:cxnSpLocks noChangeShapeType="1"/>
          </p:cNvCxnSpPr>
          <p:nvPr/>
        </p:nvCxnSpPr>
        <p:spPr bwMode="auto">
          <a:xfrm rot="10800000" flipV="1">
            <a:off x="8834438" y="3895725"/>
            <a:ext cx="284162" cy="17303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74" name="直接连接符 73"/>
          <p:cNvCxnSpPr>
            <a:cxnSpLocks noChangeShapeType="1"/>
          </p:cNvCxnSpPr>
          <p:nvPr/>
        </p:nvCxnSpPr>
        <p:spPr bwMode="auto">
          <a:xfrm rot="16200000" flipV="1">
            <a:off x="8075613" y="2865438"/>
            <a:ext cx="1384300" cy="701675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77" name="直接连接符 76"/>
          <p:cNvCxnSpPr>
            <a:cxnSpLocks noChangeShapeType="1"/>
          </p:cNvCxnSpPr>
          <p:nvPr/>
        </p:nvCxnSpPr>
        <p:spPr bwMode="auto">
          <a:xfrm rot="10800000" flipV="1">
            <a:off x="8113714" y="2498725"/>
            <a:ext cx="312737" cy="17303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81" name="直接连接符 80"/>
          <p:cNvCxnSpPr>
            <a:cxnSpLocks noChangeShapeType="1"/>
          </p:cNvCxnSpPr>
          <p:nvPr/>
        </p:nvCxnSpPr>
        <p:spPr bwMode="auto">
          <a:xfrm rot="10800000" flipV="1">
            <a:off x="8027989" y="3670300"/>
            <a:ext cx="293687" cy="1651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 rot="10800000" flipV="1">
            <a:off x="7337426" y="3246439"/>
            <a:ext cx="284163" cy="173037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83" name="直接连接符 82"/>
          <p:cNvCxnSpPr>
            <a:cxnSpLocks noChangeShapeType="1"/>
          </p:cNvCxnSpPr>
          <p:nvPr/>
        </p:nvCxnSpPr>
        <p:spPr bwMode="auto">
          <a:xfrm rot="10800000">
            <a:off x="7327901" y="3419476"/>
            <a:ext cx="714375" cy="415925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cxnSp>
        <p:nvCxnSpPr>
          <p:cNvPr id="84" name="直接连接符 83"/>
          <p:cNvCxnSpPr>
            <a:cxnSpLocks noChangeShapeType="1"/>
          </p:cNvCxnSpPr>
          <p:nvPr/>
        </p:nvCxnSpPr>
        <p:spPr bwMode="auto">
          <a:xfrm>
            <a:off x="7593014" y="3246438"/>
            <a:ext cx="731837" cy="430212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</a:ln>
        </p:spPr>
      </p:cxnSp>
      <p:sp>
        <p:nvSpPr>
          <p:cNvPr id="39" name="矩形 38"/>
          <p:cNvSpPr/>
          <p:nvPr/>
        </p:nvSpPr>
        <p:spPr>
          <a:xfrm>
            <a:off x="1271464" y="1285859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773310" y="2451628"/>
            <a:ext cx="9912428" cy="870046"/>
          </a:xfrm>
          <a:ln w="25400">
            <a:solidFill>
              <a:schemeClr val="accent1"/>
            </a:solidFill>
          </a:ln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400" b="1" dirty="0"/>
              <a:t>先定义一些常用</a:t>
            </a:r>
            <a:r>
              <a:rPr lang="zh-CN" altLang="en-US" sz="2400" b="1" dirty="0">
                <a:solidFill>
                  <a:srgbClr val="FF0000"/>
                </a:solidFill>
              </a:rPr>
              <a:t>体素</a:t>
            </a:r>
            <a:r>
              <a:rPr lang="zh-CN" altLang="en-US" sz="2400" b="1" dirty="0"/>
              <a:t>如：</a:t>
            </a:r>
            <a:r>
              <a:rPr lang="zh-CN" altLang="en-US" sz="2400" b="1" u="sng" dirty="0">
                <a:solidFill>
                  <a:srgbClr val="0070C0"/>
                </a:solidFill>
              </a:rPr>
              <a:t>长方体、圆柱体、球体、圆锥、圆环、楔、棱锥体</a:t>
            </a:r>
            <a:r>
              <a:rPr lang="zh-CN" altLang="en-US" sz="2400" b="1" dirty="0"/>
              <a:t>等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用集合运算</a:t>
            </a:r>
            <a:r>
              <a:rPr lang="zh-CN" altLang="en-US" sz="2400" b="1" dirty="0">
                <a:solidFill>
                  <a:srgbClr val="FF0066"/>
                </a:solidFill>
              </a:rPr>
              <a:t>并、交、差</a:t>
            </a:r>
            <a:r>
              <a:rPr lang="zh-CN" altLang="en-US" sz="2400" b="1" dirty="0"/>
              <a:t>把体素修改成复杂形状的形体。 </a:t>
            </a:r>
            <a:endParaRPr lang="zh-CN" altLang="en-US" sz="2400" b="1" dirty="0"/>
          </a:p>
        </p:txBody>
      </p:sp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"/>
          <a:srcRect l="52487" t="65607" r="22585" b="22145"/>
          <a:stretch>
            <a:fillRect/>
          </a:stretch>
        </p:blipFill>
        <p:spPr bwMode="auto">
          <a:xfrm>
            <a:off x="5025882" y="3596255"/>
            <a:ext cx="3097213" cy="114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"/>
          <a:srcRect l="47902" t="21008" r="23236" b="62364"/>
          <a:stretch>
            <a:fillRect/>
          </a:stretch>
        </p:blipFill>
        <p:spPr bwMode="auto">
          <a:xfrm>
            <a:off x="8478745" y="3620231"/>
            <a:ext cx="3167062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1"/>
          <a:srcRect l="26895" t="67137" r="56818" b="20390"/>
          <a:stretch>
            <a:fillRect/>
          </a:stretch>
        </p:blipFill>
        <p:spPr bwMode="auto">
          <a:xfrm>
            <a:off x="1382638" y="3596255"/>
            <a:ext cx="2100254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2197008" y="4850920"/>
            <a:ext cx="142876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 </a:t>
            </a:r>
            <a:r>
              <a:rPr lang="zh-CN" altLang="en-US" b="1" dirty="0"/>
              <a:t>立体的并集 </a:t>
            </a:r>
            <a:endParaRPr lang="zh-CN" altLang="en-US" b="1" dirty="0"/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5200482" y="4744013"/>
            <a:ext cx="2663825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/>
              <a:t>立体的交集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8589844" y="4896564"/>
            <a:ext cx="2663825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/>
              <a:t>立体的差集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23561" name="矩形 8"/>
          <p:cNvSpPr>
            <a:spLocks noChangeArrowheads="1"/>
          </p:cNvSpPr>
          <p:nvPr/>
        </p:nvSpPr>
        <p:spPr bwMode="auto">
          <a:xfrm>
            <a:off x="1703512" y="1952755"/>
            <a:ext cx="3071675" cy="4801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构造实体几何法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01851" y="1364313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1"/>
          <a:srcRect l="43108" t="67137" r="46846" b="20390"/>
          <a:stretch>
            <a:fillRect/>
          </a:stretch>
        </p:blipFill>
        <p:spPr bwMode="auto">
          <a:xfrm>
            <a:off x="3554330" y="3577178"/>
            <a:ext cx="1295408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2542040" y="5868220"/>
            <a:ext cx="8064896" cy="4637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400" b="1" dirty="0"/>
              <a:t> 实体的构造是体素间进行交、并、差集合运算的过程。</a:t>
            </a:r>
            <a:endParaRPr lang="zh-CN" altLang="en-US" sz="2400" b="1" dirty="0"/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nimBg="1" uiExpand="1" build="p"/>
      <p:bldP spid="7181" grpId="0"/>
      <p:bldP spid="7182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1487488" y="2298487"/>
            <a:ext cx="9577064" cy="3727461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b="1" dirty="0"/>
              <a:t>      1</a:t>
            </a:r>
            <a:r>
              <a:rPr lang="zh-CN" altLang="en-US" sz="2400" b="1" dirty="0"/>
              <a:t>）平移扫描法</a:t>
            </a:r>
            <a:endParaRPr lang="zh-CN" altLang="en-US" sz="2400" b="1" dirty="0"/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zh-CN" altLang="en-US" sz="2400" b="1" dirty="0"/>
              <a:t>             平移扫描的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运动轨迹</a:t>
            </a:r>
            <a:r>
              <a:rPr lang="zh-CN" altLang="en-US" sz="2400" b="1" dirty="0"/>
              <a:t>通常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是一条直线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zh-CN" altLang="en-US" sz="2400" b="1" dirty="0"/>
              <a:t>              如果扫描用的是一个平面图形，则该</a:t>
            </a:r>
            <a:r>
              <a:rPr lang="zh-CN" altLang="en-US" sz="2400" b="1" dirty="0">
                <a:solidFill>
                  <a:srgbClr val="FF0000"/>
                </a:solidFill>
              </a:rPr>
              <a:t>平面图形</a:t>
            </a:r>
            <a:r>
              <a:rPr lang="zh-CN" altLang="en-US" sz="2400" b="1" dirty="0"/>
              <a:t>就</a:t>
            </a:r>
            <a:r>
              <a:rPr lang="zh-CN" altLang="en-US" sz="2400" b="1" dirty="0">
                <a:solidFill>
                  <a:srgbClr val="FF0000"/>
                </a:solidFill>
              </a:rPr>
              <a:t>是</a:t>
            </a:r>
            <a:r>
              <a:rPr lang="zh-CN" altLang="en-US" sz="2400" b="1" dirty="0"/>
              <a:t>待构造实体的一个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剖面。</a:t>
            </a:r>
            <a:endParaRPr lang="en-US" altLang="zh-CN" sz="2400" b="1" dirty="0"/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zh-CN" altLang="en-US" sz="2400" b="1" dirty="0">
                <a:latin typeface="+mn-ea"/>
              </a:rPr>
              <a:t>         指定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平移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方向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距离</a:t>
            </a:r>
            <a:r>
              <a:rPr lang="zh-CN" altLang="en-US" sz="2400" b="1" dirty="0"/>
              <a:t>就能生成三维实体</a:t>
            </a:r>
            <a:endParaRPr lang="zh-CN" altLang="en-US" sz="2400" b="1" dirty="0"/>
          </a:p>
        </p:txBody>
      </p:sp>
      <p:sp>
        <p:nvSpPr>
          <p:cNvPr id="24579" name="矩形 4"/>
          <p:cNvSpPr>
            <a:spLocks noChangeArrowheads="1"/>
          </p:cNvSpPr>
          <p:nvPr/>
        </p:nvSpPr>
        <p:spPr bwMode="auto">
          <a:xfrm>
            <a:off x="1492340" y="1765052"/>
            <a:ext cx="1628972" cy="4370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扫描法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7" name="图片 6" descr="l2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32225" y="4784744"/>
            <a:ext cx="1550988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l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8738" y="4289444"/>
            <a:ext cx="1643062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 descr="l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5" y="4587894"/>
            <a:ext cx="1036638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 descr="l4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27888" y="4138630"/>
            <a:ext cx="17526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952597" y="6000769"/>
            <a:ext cx="8343927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66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☆</a:t>
            </a:r>
            <a:r>
              <a:rPr lang="zh-CN" altLang="en-US" sz="2800" b="1" dirty="0">
                <a:solidFill>
                  <a:srgbClr val="FF0066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平移扫描</a:t>
            </a:r>
            <a:r>
              <a:rPr lang="zh-CN" altLang="en-US" sz="2800" b="1" dirty="0">
                <a:latin typeface="Segoe UI" panose="020B0502040204020203" pitchFamily="34" charset="0"/>
              </a:rPr>
              <a:t>只能</a:t>
            </a:r>
            <a:r>
              <a:rPr lang="zh-CN" altLang="en-US" sz="2800" b="1" dirty="0">
                <a:solidFill>
                  <a:srgbClr val="FF0066"/>
                </a:solidFill>
                <a:latin typeface="Segoe UI" panose="020B0502040204020203" pitchFamily="34" charset="0"/>
              </a:rPr>
              <a:t>构造</a:t>
            </a:r>
            <a:r>
              <a:rPr lang="zh-CN" altLang="en-US" sz="2800" b="1" dirty="0">
                <a:latin typeface="Segoe UI" panose="020B0502040204020203" pitchFamily="34" charset="0"/>
              </a:rPr>
              <a:t>具有</a:t>
            </a:r>
            <a:r>
              <a:rPr lang="zh-CN" altLang="en-US" sz="2800" b="1" dirty="0">
                <a:solidFill>
                  <a:srgbClr val="FF0066"/>
                </a:solidFill>
                <a:latin typeface="Segoe UI" panose="020B0502040204020203" pitchFamily="34" charset="0"/>
              </a:rPr>
              <a:t>相同剖面</a:t>
            </a:r>
            <a:r>
              <a:rPr lang="zh-CN" altLang="en-US" sz="2800" b="1" dirty="0">
                <a:latin typeface="Segoe UI" panose="020B0502040204020203" pitchFamily="34" charset="0"/>
              </a:rPr>
              <a:t>形状的实体</a:t>
            </a:r>
            <a:endParaRPr lang="zh-CN" altLang="en-US" sz="2800" dirty="0">
              <a:latin typeface="Segoe UI" panose="020B0502040204020203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3432" y="1196752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uiExpand="1" build="p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idx="1"/>
          </p:nvPr>
        </p:nvSpPr>
        <p:spPr>
          <a:xfrm>
            <a:off x="1681758" y="2749546"/>
            <a:ext cx="9886850" cy="300516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</a:t>
            </a:r>
            <a:r>
              <a:rPr lang="zh-CN" altLang="en-US" sz="2400" b="1" dirty="0"/>
              <a:t>当一个</a:t>
            </a:r>
            <a:r>
              <a:rPr lang="zh-CN" altLang="en-US" sz="2400" b="1" dirty="0">
                <a:solidFill>
                  <a:srgbClr val="FF0000"/>
                </a:solidFill>
              </a:rPr>
              <a:t>平面</a:t>
            </a:r>
            <a:r>
              <a:rPr lang="zh-CN" altLang="en-US" sz="2400" b="1" dirty="0"/>
              <a:t>图形</a:t>
            </a:r>
            <a:r>
              <a:rPr lang="zh-CN" altLang="en-US" sz="2400" b="1" dirty="0">
                <a:solidFill>
                  <a:srgbClr val="FF0000"/>
                </a:solidFill>
              </a:rPr>
              <a:t>绕着</a:t>
            </a:r>
            <a:r>
              <a:rPr lang="zh-CN" altLang="en-US" sz="2400" b="1" dirty="0"/>
              <a:t>与其</a:t>
            </a:r>
            <a:r>
              <a:rPr lang="zh-CN" altLang="en-US" sz="2400" b="1" dirty="0">
                <a:solidFill>
                  <a:srgbClr val="0070C0"/>
                </a:solidFill>
              </a:rPr>
              <a:t>共面的轴</a:t>
            </a:r>
            <a:r>
              <a:rPr lang="zh-CN" altLang="en-US" sz="2400" b="1" dirty="0">
                <a:solidFill>
                  <a:srgbClr val="FF0000"/>
                </a:solidFill>
              </a:rPr>
              <a:t>旋转</a:t>
            </a:r>
            <a:r>
              <a:rPr lang="zh-CN" altLang="en-US" sz="2400" b="1" dirty="0"/>
              <a:t>一角度时，即扫描出一个实体。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</a:rPr>
              <a:t>   </a:t>
            </a:r>
            <a:endParaRPr lang="zh-CN" altLang="en-US" sz="2800" b="1" dirty="0">
              <a:solidFill>
                <a:srgbClr val="FF0066"/>
              </a:solidFill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"/>
          <a:srcRect l="24942" t="54263" r="51683" b="28569"/>
          <a:stretch>
            <a:fillRect/>
          </a:stretch>
        </p:blipFill>
        <p:spPr bwMode="auto">
          <a:xfrm>
            <a:off x="2262189" y="3783036"/>
            <a:ext cx="35782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"/>
          <a:srcRect l="49934" t="54263" r="24522" b="28569"/>
          <a:stretch>
            <a:fillRect/>
          </a:stretch>
        </p:blipFill>
        <p:spPr bwMode="auto">
          <a:xfrm>
            <a:off x="6022976" y="3819549"/>
            <a:ext cx="3819525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5" name="矩形 4"/>
          <p:cNvSpPr>
            <a:spLocks noChangeArrowheads="1"/>
          </p:cNvSpPr>
          <p:nvPr/>
        </p:nvSpPr>
        <p:spPr bwMode="auto">
          <a:xfrm>
            <a:off x="1523301" y="2276872"/>
            <a:ext cx="2196435" cy="3877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）旋转扫描法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047200" y="5754711"/>
            <a:ext cx="636744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☆</a:t>
            </a:r>
            <a:r>
              <a:rPr lang="zh-CN" altLang="en-US" sz="2800" b="1" dirty="0">
                <a:solidFill>
                  <a:srgbClr val="FF0000"/>
                </a:solidFill>
              </a:rPr>
              <a:t>旋转扫描</a:t>
            </a:r>
            <a:r>
              <a:rPr lang="zh-CN" altLang="en-US" sz="2800" b="1" dirty="0"/>
              <a:t>只能</a:t>
            </a:r>
            <a:r>
              <a:rPr lang="zh-CN" altLang="en-US" sz="2800" b="1" dirty="0">
                <a:solidFill>
                  <a:srgbClr val="FF0000"/>
                </a:solidFill>
              </a:rPr>
              <a:t>构造</a:t>
            </a:r>
            <a:r>
              <a:rPr lang="zh-CN" altLang="en-US" sz="2800" b="1" dirty="0"/>
              <a:t>具有</a:t>
            </a:r>
            <a:r>
              <a:rPr lang="zh-CN" altLang="en-US" sz="2800" b="1" dirty="0">
                <a:solidFill>
                  <a:srgbClr val="FF0000"/>
                </a:solidFill>
              </a:rPr>
              <a:t>轴对称的实体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4"/>
          <p:cNvSpPr>
            <a:spLocks noChangeArrowheads="1"/>
          </p:cNvSpPr>
          <p:nvPr/>
        </p:nvSpPr>
        <p:spPr bwMode="auto">
          <a:xfrm>
            <a:off x="1319432" y="1781417"/>
            <a:ext cx="1628972" cy="4370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扫描法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11424" y="1196752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几何体的构</a:t>
            </a:r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形</a:t>
            </a:r>
            <a:r>
              <a:rPr lang="zh-CN" altLang="zh-CN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688705" y="4436745"/>
            <a:ext cx="2374265" cy="1551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2" name="Picture 2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768" y="1548750"/>
            <a:ext cx="1547817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911424" y="1265088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CAD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基础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95632" y="1743199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三维实体润饰</a:t>
            </a:r>
            <a:endParaRPr lang="zh-CN" altLang="en-US" sz="2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10613" y="2249780"/>
            <a:ext cx="2507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1)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三维视图命令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637254" y="3428917"/>
            <a:ext cx="3387629" cy="1198880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  <a:tileRect/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在功能区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找到“视图”，可调用“三维视图”命令</a:t>
            </a:r>
            <a:r>
              <a:rPr lang="zh-CN" altLang="en-US" sz="2400" b="1" dirty="0">
                <a:cs typeface="宋体" panose="02010600030101010101" pitchFamily="2" charset="-122"/>
              </a:rPr>
              <a:t> </a:t>
            </a:r>
            <a:endParaRPr lang="zh-CN" altLang="en-US" sz="2400" b="1" dirty="0">
              <a:cs typeface="宋体" panose="02010600030101010101" pitchFamily="2" charset="-122"/>
            </a:endParaRPr>
          </a:p>
        </p:txBody>
      </p:sp>
      <p:sp>
        <p:nvSpPr>
          <p:cNvPr id="15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855" y="1700530"/>
            <a:ext cx="5619750" cy="12477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912350" y="1700530"/>
            <a:ext cx="1656080" cy="1297305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</a:ln>
        </p:spPr>
        <p:txBody>
          <a:bodyPr anchor="ctr"/>
          <a:p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bldLvl="0" animBg="1"/>
      <p:bldP spid="7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1424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CAD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基础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91544" y="2345063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1)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三维视图命令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802509" y="2925450"/>
            <a:ext cx="3462654" cy="1569660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  <a:tileRect/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/>
            <a:r>
              <a:rPr lang="zh-CN" altLang="en-US" sz="2400" b="1" dirty="0"/>
              <a:t>利用“三维视图”命令，可以显示生成实体的六个二维基本视图和四个方向的正等轴测图</a:t>
            </a:r>
            <a:endParaRPr lang="zh-CN" altLang="en-US" sz="2400" b="1" dirty="0"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16374" y="1749026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三维实体润饰</a:t>
            </a:r>
            <a:endParaRPr lang="zh-CN" altLang="en-US" sz="2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855" y="1700530"/>
            <a:ext cx="5619750" cy="12477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912350" y="1987550"/>
            <a:ext cx="1656080" cy="412115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</a:ln>
        </p:spPr>
        <p:txBody>
          <a:bodyPr anchor="ctr"/>
          <a:p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350" y="2399665"/>
            <a:ext cx="1514475" cy="2762250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802509" y="5166653"/>
            <a:ext cx="3462654" cy="829945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  <a:tileRect/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/>
            <a:r>
              <a:rPr lang="zh-CN" altLang="en-US" sz="2400" b="1" dirty="0">
                <a:cs typeface="宋体" panose="02010600030101010101" pitchFamily="2" charset="-122"/>
              </a:rPr>
              <a:t>按住</a:t>
            </a:r>
            <a:r>
              <a:rPr lang="en-US" altLang="zh-CN" sz="2400" b="1" dirty="0">
                <a:cs typeface="宋体" panose="02010600030101010101" pitchFamily="2" charset="-122"/>
              </a:rPr>
              <a:t>shift</a:t>
            </a:r>
            <a:r>
              <a:rPr lang="zh-CN" altLang="en-US" sz="2400" b="1" dirty="0">
                <a:cs typeface="宋体" panose="02010600030101010101" pitchFamily="2" charset="-122"/>
              </a:rPr>
              <a:t>加鼠标滚轮，可以自由旋转</a:t>
            </a:r>
            <a:r>
              <a:rPr lang="zh-CN" altLang="en-US" sz="2400" b="1" dirty="0">
                <a:cs typeface="宋体" panose="02010600030101010101" pitchFamily="2" charset="-122"/>
              </a:rPr>
              <a:t>视角</a:t>
            </a:r>
            <a:endParaRPr lang="zh-CN" altLang="en-US" sz="2400" b="1" dirty="0"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bldLvl="0" animBg="1"/>
      <p:bldP spid="7" grpId="0" bldLvl="0" animBg="1"/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1424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CAD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基础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31504" y="2204864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2)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视觉样式命令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775579" y="3285212"/>
            <a:ext cx="3181267" cy="1568450"/>
          </a:xfrm>
          <a:prstGeom prst="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/>
            <a:r>
              <a:rPr lang="zh-CN" altLang="en-US" sz="2400" b="1" dirty="0"/>
              <a:t>在功能区单击“视觉样式”工具栏中的按钮，可调用“视觉样式”命令</a:t>
            </a:r>
            <a:endParaRPr lang="zh-CN" altLang="en-US" sz="2400" b="1" dirty="0"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342829" y="1686935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三维实体润饰</a:t>
            </a:r>
            <a:endParaRPr lang="zh-CN" altLang="en-US" sz="2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5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855" y="1700530"/>
            <a:ext cx="5619750" cy="12477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912350" y="1700530"/>
            <a:ext cx="1656080" cy="423545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</a:ln>
        </p:spPr>
        <p:txBody>
          <a:bodyPr anchor="ctr"/>
          <a:p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855" y="2948305"/>
            <a:ext cx="4124325" cy="3209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bldLvl="0" animBg="1"/>
      <p:bldP spid="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3306445"/>
            <a:ext cx="1028700" cy="33623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20" y="3521075"/>
            <a:ext cx="7667625" cy="21336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3010535"/>
            <a:ext cx="2783840" cy="38989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11424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CAD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基础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91523" y="1714357"/>
            <a:ext cx="2957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绘制基本三维实体</a:t>
            </a:r>
            <a:endParaRPr lang="zh-CN" altLang="en-US" sz="2400" b="1" dirty="0">
              <a:latin typeface="黑体" panose="02010609060101010101" pitchFamily="2" charset="-122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559496" y="2336809"/>
            <a:ext cx="540060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   打开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AutoCAD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在快速访问工具栏 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810248" y="2929580"/>
            <a:ext cx="39401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中选“三维建模”工作空间</a:t>
            </a:r>
            <a:r>
              <a:rPr lang="zh-CN" altLang="en-US" sz="2400" b="1" dirty="0">
                <a:cs typeface="宋体" panose="02010600030101010101" pitchFamily="2" charset="-122"/>
              </a:rPr>
              <a:t> </a:t>
            </a:r>
            <a:endParaRPr lang="zh-CN" altLang="en-US" sz="2400" b="1" dirty="0"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380986" y="3000372"/>
            <a:ext cx="357191" cy="35719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543175" y="4072255"/>
            <a:ext cx="695960" cy="9207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40305" y="5876290"/>
            <a:ext cx="548132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示例：构建直径为</a:t>
            </a:r>
            <a:r>
              <a:rPr lang="en-US" sz="2400" b="1" dirty="0">
                <a:latin typeface="+mn-ea"/>
                <a:ea typeface="+mn-ea"/>
              </a:rPr>
              <a:t>60mm</a:t>
            </a:r>
            <a:r>
              <a:rPr lang="zh-CN" altLang="en-US" sz="2400" b="1" dirty="0">
                <a:latin typeface="+mn-ea"/>
                <a:ea typeface="+mn-ea"/>
              </a:rPr>
              <a:t>、高度为</a:t>
            </a:r>
            <a:r>
              <a:rPr lang="en-US" sz="2400" b="1" dirty="0">
                <a:latin typeface="+mn-ea"/>
                <a:ea typeface="+mn-ea"/>
              </a:rPr>
              <a:t>80mm</a:t>
            </a:r>
            <a:r>
              <a:rPr lang="zh-CN" altLang="en-US" sz="2400" b="1" dirty="0">
                <a:latin typeface="+mn-ea"/>
                <a:ea typeface="+mn-ea"/>
              </a:rPr>
              <a:t>的圆柱体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040661" y="5928696"/>
            <a:ext cx="2286015" cy="461665"/>
            <a:chOff x="642910" y="5929330"/>
            <a:chExt cx="1068998" cy="461665"/>
          </a:xfrm>
        </p:grpSpPr>
        <p:sp>
          <p:nvSpPr>
            <p:cNvPr id="18" name="矩形 17"/>
            <p:cNvSpPr/>
            <p:nvPr/>
          </p:nvSpPr>
          <p:spPr>
            <a:xfrm>
              <a:off x="642910" y="5929330"/>
              <a:ext cx="5344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/>
                <a:t>1)</a:t>
              </a:r>
              <a:r>
                <a:rPr lang="zh-CN" altLang="en-US" sz="2400" b="1" dirty="0"/>
                <a:t>单击</a:t>
              </a:r>
              <a:endParaRPr lang="zh-CN" altLang="en-US" sz="2400" b="1" dirty="0"/>
            </a:p>
          </p:txBody>
        </p:sp>
        <p:pic>
          <p:nvPicPr>
            <p:cNvPr id="14342" name="Picture 6" descr="14-84-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44003" y="6000768"/>
              <a:ext cx="567905" cy="357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1" name="矩形 20"/>
          <p:cNvSpPr/>
          <p:nvPr/>
        </p:nvSpPr>
        <p:spPr bwMode="auto">
          <a:xfrm>
            <a:off x="1059180" y="3785870"/>
            <a:ext cx="1042035" cy="5238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0" grpId="0" bldLvl="0" animBg="1"/>
      <p:bldP spid="13" grpId="0" bldLvl="0" animBg="1"/>
      <p:bldP spid="16" grpId="0" bldLvl="0" animBg="1"/>
      <p:bldP spid="17" grpId="0"/>
      <p:bldP spid="2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70475" r="2678"/>
          <a:stretch>
            <a:fillRect/>
          </a:stretch>
        </p:blipFill>
        <p:spPr>
          <a:xfrm>
            <a:off x="4871720" y="5640070"/>
            <a:ext cx="1323975" cy="109537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740726" y="2233388"/>
            <a:ext cx="60114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）光标在绘图区域内任意点单击，确定圆柱体底面中心点坐标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9416" y="1196752"/>
            <a:ext cx="3794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CAD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x-none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基础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19515" y="1679321"/>
            <a:ext cx="2957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2400" b="1" dirty="0">
                <a:latin typeface="黑体" panose="02010609060101010101" pitchFamily="2" charset="-122"/>
                <a:ea typeface="黑体" panose="02010609060101010101" pitchFamily="2" charset="-122"/>
              </a:rPr>
              <a:t>绘制基本三维实体</a:t>
            </a:r>
            <a:endParaRPr lang="zh-CN" altLang="en-US" sz="2400" b="1" dirty="0">
              <a:latin typeface="黑体" panose="02010609060101010101" pitchFamily="2" charset="-122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154" name="Picture 2" descr="14-84-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49" y="3137885"/>
            <a:ext cx="5065887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 descr="14-84-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8348" y="3566513"/>
            <a:ext cx="593867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3167042" y="4000505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绘图区内显示的是二维线框图形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1524000" y="494184"/>
            <a:ext cx="216726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zh-CN" sz="900">
                <a:cs typeface="宋体" panose="02010600030101010101" pitchFamily="2" charset="-122"/>
              </a:rPr>
              <a:t> </a:t>
            </a:r>
            <a:endParaRPr lang="zh-CN" altLang="zh-CN">
              <a:cs typeface="宋体" panose="02010600030101010101" pitchFamily="2" charset="-122"/>
            </a:endParaRP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740726" y="4462170"/>
            <a:ext cx="2339102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3)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1722180" y="5643578"/>
            <a:ext cx="2339102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4)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pic>
        <p:nvPicPr>
          <p:cNvPr id="49171" name="Picture 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24892" y="1571612"/>
            <a:ext cx="1508520" cy="150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0" name="Picture 1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24892" y="1428736"/>
            <a:ext cx="1428760" cy="1991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2" name="Picture 2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24893" y="1285860"/>
            <a:ext cx="1547817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6667505" y="4643447"/>
            <a:ext cx="204094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4871720" y="5715000"/>
            <a:ext cx="1323975" cy="24574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70475" r="2678"/>
          <a:stretch>
            <a:fillRect/>
          </a:stretch>
        </p:blipFill>
        <p:spPr>
          <a:xfrm>
            <a:off x="4871720" y="4437380"/>
            <a:ext cx="1323975" cy="10953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4871720" y="4740275"/>
            <a:ext cx="1324610" cy="29337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671950" y="5639762"/>
            <a:ext cx="204094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70475" t="26274" r="2678" b="47451"/>
          <a:stretch>
            <a:fillRect/>
          </a:stretch>
        </p:blipFill>
        <p:spPr>
          <a:xfrm>
            <a:off x="8760460" y="4653280"/>
            <a:ext cx="1983105" cy="4311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rcRect l="75073" t="574" r="5712" b="73076"/>
          <a:stretch>
            <a:fillRect/>
          </a:stretch>
        </p:blipFill>
        <p:spPr>
          <a:xfrm>
            <a:off x="8904605" y="5365115"/>
            <a:ext cx="955040" cy="101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49160" grpId="0"/>
      <p:bldP spid="26" grpId="0"/>
      <p:bldP spid="40" grpId="0"/>
      <p:bldP spid="43" grpId="0" bldLvl="0" animBg="1"/>
      <p:bldP spid="6" grpId="0" bldLvl="0" animBg="1"/>
      <p:bldP spid="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545830" y="1771015"/>
            <a:ext cx="2374265" cy="1551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6783" y="1538274"/>
            <a:ext cx="2981072" cy="1838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990119" y="1196752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通过二维图形构建三维实体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2452663" y="1928803"/>
            <a:ext cx="432554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indent="268605"/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用拉伸命令构建三维实体</a:t>
            </a:r>
            <a:endParaRPr lang="zh-CN" altLang="en-US" sz="2400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52662" y="2500307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示例：以图所示作为底面、构建高度为</a:t>
            </a:r>
            <a:r>
              <a:rPr lang="en-US" sz="2400" b="1" dirty="0">
                <a:latin typeface="+mn-ea"/>
                <a:ea typeface="+mn-ea"/>
              </a:rPr>
              <a:t>12mm</a:t>
            </a:r>
            <a:r>
              <a:rPr lang="zh-CN" altLang="en-US" sz="2400" b="1" dirty="0">
                <a:latin typeface="+mn-ea"/>
                <a:ea typeface="+mn-ea"/>
              </a:rPr>
              <a:t>的平板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09853" y="3500439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1</a:t>
            </a:r>
            <a:r>
              <a:rPr lang="zh-CN" altLang="en-US" sz="2400" b="1" dirty="0">
                <a:latin typeface="+mn-ea"/>
                <a:ea typeface="+mn-ea"/>
              </a:rPr>
              <a:t>）绘制平板底面图形</a:t>
            </a:r>
            <a:endParaRPr lang="zh-CN" altLang="en-US" sz="2400" b="1" dirty="0">
              <a:latin typeface="+mn-ea"/>
              <a:ea typeface="+mn-ea"/>
            </a:endParaRP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2469" y="4114550"/>
            <a:ext cx="2643206" cy="1567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2822552" y="3929067"/>
            <a:ext cx="2194832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）菜单栏单击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10928" y="4399969"/>
            <a:ext cx="26613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3</a:t>
            </a:r>
            <a:r>
              <a:rPr lang="zh-CN" altLang="en-US" sz="2400" b="1" dirty="0">
                <a:latin typeface="+mn-ea"/>
              </a:rPr>
              <a:t>）</a:t>
            </a:r>
            <a:r>
              <a:rPr lang="zh-CN" altLang="en-US" sz="2400" b="1" dirty="0">
                <a:latin typeface="+mn-ea"/>
                <a:ea typeface="+mn-ea"/>
              </a:rPr>
              <a:t>拉伸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在菜单栏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810928" y="4931211"/>
            <a:ext cx="2042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4</a:t>
            </a:r>
            <a:r>
              <a:rPr lang="zh-CN" altLang="en-US" sz="2400" b="1" dirty="0">
                <a:latin typeface="+mn-ea"/>
              </a:rPr>
              <a:t>）输入厚度</a:t>
            </a:r>
            <a:r>
              <a:rPr lang="en-US" altLang="zh-CN" sz="2400" b="1" dirty="0">
                <a:latin typeface="+mn-ea"/>
              </a:rPr>
              <a:t>8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22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505" y="1575435"/>
            <a:ext cx="4177030" cy="490156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 bwMode="auto">
          <a:xfrm>
            <a:off x="10222865" y="5463540"/>
            <a:ext cx="1071880" cy="36703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1215" t="2350"/>
          <a:stretch>
            <a:fillRect/>
          </a:stretch>
        </p:blipFill>
        <p:spPr>
          <a:xfrm>
            <a:off x="3616960" y="3231515"/>
            <a:ext cx="3613150" cy="32461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3689350" y="4093845"/>
            <a:ext cx="1201420" cy="39814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090" y="1718945"/>
            <a:ext cx="6801485" cy="472313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8639175" y="1995170"/>
            <a:ext cx="1617345" cy="46228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223500" y="3950970"/>
            <a:ext cx="1519555" cy="3079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" grpId="0" bldLvl="0" animBg="1"/>
      <p:bldP spid="7" grpId="0"/>
      <p:bldP spid="10" grpId="0"/>
      <p:bldP spid="13318" grpId="0" bldLvl="0" animBg="1"/>
      <p:bldP spid="17" grpId="0" bldLvl="0" animBg="1"/>
      <p:bldP spid="17" grpId="1" bldLvl="0" animBg="1"/>
      <p:bldP spid="21" grpId="0"/>
      <p:bldP spid="27" grpId="0"/>
      <p:bldP spid="5" grpId="0" bldLvl="0" animBg="1"/>
      <p:bldP spid="5" grpId="2" bldLvl="0" animBg="1"/>
      <p:bldP spid="17" grpId="2" bldLvl="0" animBg="1"/>
      <p:bldP spid="8" grpId="0" bldLvl="0" animBg="1"/>
      <p:bldP spid="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593355" y="4251764"/>
            <a:ext cx="3214710" cy="2154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941149" y="1262706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通过二维图形构建三维实体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/>
          <a:srcRect t="-3479"/>
          <a:stretch>
            <a:fillRect/>
          </a:stretch>
        </p:blipFill>
        <p:spPr bwMode="auto">
          <a:xfrm>
            <a:off x="7680325" y="4270057"/>
            <a:ext cx="3143250" cy="2125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70475" r="2678"/>
          <a:stretch>
            <a:fillRect/>
          </a:stretch>
        </p:blipFill>
        <p:spPr>
          <a:xfrm>
            <a:off x="4516120" y="3273425"/>
            <a:ext cx="1323975" cy="1095375"/>
          </a:xfrm>
          <a:prstGeom prst="rect">
            <a:avLst/>
          </a:prstGeom>
        </p:spPr>
      </p:pic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385126" y="2096170"/>
            <a:ext cx="232664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fr-FR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1366580" y="3277578"/>
            <a:ext cx="232664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fr-FR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6311905" y="2276802"/>
            <a:ext cx="204094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4516120" y="3348355"/>
            <a:ext cx="1323975" cy="24574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70475" r="2678"/>
          <a:stretch>
            <a:fillRect/>
          </a:stretch>
        </p:blipFill>
        <p:spPr>
          <a:xfrm>
            <a:off x="4516120" y="2070735"/>
            <a:ext cx="1323975" cy="109537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 bwMode="auto">
          <a:xfrm>
            <a:off x="4516120" y="2373630"/>
            <a:ext cx="1324610" cy="29337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6316350" y="3273117"/>
            <a:ext cx="204094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l="70475" t="26274" r="2678" b="47451"/>
          <a:stretch>
            <a:fillRect/>
          </a:stretch>
        </p:blipFill>
        <p:spPr>
          <a:xfrm>
            <a:off x="8404860" y="2286635"/>
            <a:ext cx="1983105" cy="4311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rcRect l="75073" t="574" r="5712" b="73076"/>
          <a:stretch>
            <a:fillRect/>
          </a:stretch>
        </p:blipFill>
        <p:spPr>
          <a:xfrm>
            <a:off x="8549005" y="2998470"/>
            <a:ext cx="955040" cy="101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0" grpId="0" bldLvl="0" animBg="1"/>
      <p:bldP spid="26" grpId="0" bldLvl="0" animBg="1"/>
      <p:bldP spid="40" grpId="0" bldLvl="0" animBg="1"/>
      <p:bldP spid="43" grpId="0" bldLvl="0" animBg="1"/>
      <p:bldP spid="17" grpId="0" bldLvl="0" animBg="1"/>
      <p:bldP spid="1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1"/>
          <p:cNvSpPr txBox="1">
            <a:spLocks noChangeArrowheads="1"/>
          </p:cNvSpPr>
          <p:nvPr/>
        </p:nvSpPr>
        <p:spPr bwMode="auto">
          <a:xfrm>
            <a:off x="2855641" y="512982"/>
            <a:ext cx="6096719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1111" y="1199592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通过二维图形构建三维实体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1919536" y="1813935"/>
            <a:ext cx="3898824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用旋转命令构建三维实体</a:t>
            </a:r>
            <a:endParaRPr lang="zh-CN" altLang="en-US" sz="2400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72847" y="3203026"/>
            <a:ext cx="3814479" cy="262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228578" y="2308572"/>
            <a:ext cx="8979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示例：以所示图形作为母线、绕给定旋转轴旋转构建图三维实体</a:t>
            </a:r>
            <a:endParaRPr lang="zh-CN" altLang="en-US" sz="2400" b="1" dirty="0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1924459" y="2660202"/>
            <a:ext cx="464347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266700"/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1)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绘制母线二维图形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266700" eaLnBrk="0" hangingPunct="0"/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2)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用“边界”命令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将图形转换为多段线</a:t>
            </a:r>
            <a:r>
              <a:rPr lang="zh-CN" altLang="en-US" b="1" dirty="0">
                <a:cs typeface="宋体" panose="02010600030101010101" pitchFamily="2" charset="-122"/>
              </a:rPr>
              <a:t> 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66910" y="3222952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ea"/>
              </a:rPr>
              <a:t>3</a:t>
            </a:r>
            <a:r>
              <a:rPr lang="zh-CN" altLang="en-US" b="1" dirty="0">
                <a:latin typeface="+mn-ea"/>
              </a:rPr>
              <a:t>）</a:t>
            </a:r>
            <a:r>
              <a:rPr lang="zh-CN" altLang="en-US" b="1" dirty="0">
                <a:latin typeface="+mn-ea"/>
                <a:ea typeface="+mn-ea"/>
              </a:rPr>
              <a:t>在菜单栏</a:t>
            </a:r>
            <a:endParaRPr lang="zh-CN" altLang="en-US" b="1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305" y="2920365"/>
            <a:ext cx="7820025" cy="359092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 bwMode="auto">
          <a:xfrm>
            <a:off x="6887845" y="3275330"/>
            <a:ext cx="744220" cy="2159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6924040" y="3549015"/>
            <a:ext cx="1753870" cy="22288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677910" y="5805170"/>
            <a:ext cx="1607185" cy="2235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072" y="3933193"/>
            <a:ext cx="23907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7" grpId="0"/>
      <p:bldP spid="6" grpId="0"/>
      <p:bldP spid="50180" grpId="0"/>
      <p:bldP spid="11" grpId="0" bldLvl="0" animBg="1"/>
      <p:bldP spid="12" grpId="0" bldLvl="0" animBg="1"/>
      <p:bldP spid="13" grpId="0" bldLvl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41149" y="1250925"/>
            <a:ext cx="5214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1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三、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通过二维图形构建三维实体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74001" y="1967203"/>
            <a:ext cx="3898824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用旋转命令构建三维实体</a:t>
            </a:r>
            <a:endParaRPr lang="zh-CN" altLang="en-US" sz="2400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1674002" y="2395831"/>
            <a:ext cx="312777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4)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选择旋转角度为</a:t>
            </a:r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360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pic>
        <p:nvPicPr>
          <p:cNvPr id="51201" name="Picture 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336096" y="4221483"/>
            <a:ext cx="24574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6097" y="4221483"/>
            <a:ext cx="23907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2639616" y="474250"/>
            <a:ext cx="6448771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CAD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三维构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</a:t>
            </a:r>
            <a:r>
              <a:rPr lang="zh-CN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基础与基本立体投影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70475" r="2678"/>
          <a:stretch>
            <a:fillRect/>
          </a:stretch>
        </p:blipFill>
        <p:spPr>
          <a:xfrm>
            <a:off x="4154170" y="4018280"/>
            <a:ext cx="1323975" cy="1095375"/>
          </a:xfrm>
          <a:prstGeom prst="rect">
            <a:avLst/>
          </a:prstGeom>
        </p:spPr>
      </p:pic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668971" y="2841025"/>
            <a:ext cx="232664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fr-FR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1650425" y="4022433"/>
            <a:ext cx="232664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fr-FR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在功能区单击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5662935" y="3021657"/>
            <a:ext cx="204094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4154170" y="4093210"/>
            <a:ext cx="1323975" cy="24574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70475" r="2678"/>
          <a:stretch>
            <a:fillRect/>
          </a:stretch>
        </p:blipFill>
        <p:spPr>
          <a:xfrm>
            <a:off x="4154170" y="2815590"/>
            <a:ext cx="1323975" cy="109537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 bwMode="auto">
          <a:xfrm>
            <a:off x="4154170" y="3118485"/>
            <a:ext cx="1324610" cy="29337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5667380" y="4017972"/>
            <a:ext cx="204094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从菜单中选择</a:t>
            </a:r>
            <a:endParaRPr lang="zh-CN" altLang="en-US" sz="24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l="70475" t="26274" r="2678" b="47451"/>
          <a:stretch>
            <a:fillRect/>
          </a:stretch>
        </p:blipFill>
        <p:spPr>
          <a:xfrm>
            <a:off x="7755890" y="3031490"/>
            <a:ext cx="1983105" cy="43116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rcRect l="75073" t="574" r="5712" b="73076"/>
          <a:stretch>
            <a:fillRect/>
          </a:stretch>
        </p:blipFill>
        <p:spPr>
          <a:xfrm>
            <a:off x="7900035" y="3743325"/>
            <a:ext cx="955040" cy="101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5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49160" grpId="0" bldLvl="0" animBg="1"/>
      <p:bldP spid="26" grpId="0" bldLvl="0" animBg="1"/>
      <p:bldP spid="40" grpId="0" bldLvl="0" animBg="1"/>
      <p:bldP spid="43" grpId="0" bldLvl="0" animBg="1"/>
      <p:bldP spid="17" grpId="0" bldLvl="0" animBg="1"/>
      <p:bldP spid="19" grpId="0" bldLvl="0" animBg="1"/>
    </p:bldLst>
  </p:timing>
</p:sld>
</file>

<file path=ppt/tags/tag1.xml><?xml version="1.0" encoding="utf-8"?>
<p:tagLst xmlns:p="http://schemas.openxmlformats.org/presentationml/2006/main">
  <p:tag name="ISPRING_RESOURCE_PATHS_HASH_2" val="4f7fdee148e555d4f14b397e979643e7c9ab48b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</a:ln>
      </a:spPr>
      <a:bodyPr anchor="ctr"/>
      <a:lstStyle>
        <a:defPPr>
          <a:defRPr sz="3600" dirty="0">
            <a:solidFill>
              <a:schemeClr val="tx2"/>
            </a:solidFill>
            <a:latin typeface="宋体" panose="02010600030101010101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anose="02010609060101010101" pitchFamily="2" charset="-122"/>
            <a:ea typeface="黑体" panose="02010609060101010101" pitchFamily="2" charset="-122"/>
            <a:cs typeface="+mj-cs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1824</Words>
  <Application>WPS 演示</Application>
  <PresentationFormat>宽屏</PresentationFormat>
  <Paragraphs>242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黑体</vt:lpstr>
      <vt:lpstr>Calibri</vt:lpstr>
      <vt:lpstr>Wingdings</vt:lpstr>
      <vt:lpstr>Times New Roman</vt:lpstr>
      <vt:lpstr>Segoe UI</vt:lpstr>
      <vt:lpstr>微软雅黑</vt:lpstr>
      <vt:lpstr>Arial Unicode MS</vt:lpstr>
      <vt:lpstr>Symbol</vt:lpstr>
      <vt:lpstr>Dutch801 Rm BT</vt:lpstr>
      <vt:lpstr>CommercialPi BT</vt:lpstr>
      <vt:lpstr>Italic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CAD三维构型基础与基本立体投影</dc:title>
  <dc:creator>穆浩志</dc:creator>
  <cp:keywords>天津理工大学</cp:keywords>
  <dc:subject>CAD三维构型基础与基本立体投影</dc:subject>
  <cp:lastModifiedBy>xlx</cp:lastModifiedBy>
  <cp:revision>287</cp:revision>
  <dcterms:created xsi:type="dcterms:W3CDTF">2014-03-20T09:34:00Z</dcterms:created>
  <dcterms:modified xsi:type="dcterms:W3CDTF">2026-09-20T07:38:43Z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5A154D58BFE441B48E8D2F9246511BA4_13</vt:lpwstr>
  </property>
  <property fmtid="{D5CDD505-2E9C-101B-9397-08002B2CF9AE}" pid="3" name="KSOProductBuildVer">
    <vt:lpwstr>2052-12.1.0.28505</vt:lpwstr>
  </property>
</Properties>
</file>